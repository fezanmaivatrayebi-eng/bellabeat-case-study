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0" d="100"/>
          <a:sy n="70" d="100"/>
        </p:scale>
        <p:origin x="51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Pourcentage du temps quotidien</c:v>
                </c:pt>
              </c:strCache>
            </c:strRef>
          </c:tx>
          <c:spPr>
            <a:solidFill>
              <a:srgbClr val="00A896"/>
            </a:solidFill>
            <a:effectLst/>
          </c:spPr>
          <c:invertIfNegative val="0"/>
          <c:dLbls>
            <c:numFmt formatCode="0.0&quot;%&quot;" sourceLinked="0"/>
            <c:spPr>
              <a:noFill/>
              <a:ln>
                <a:noFill/>
              </a:ln>
              <a:effectLst/>
            </c:spPr>
            <c:txPr>
              <a:bodyPr/>
              <a:lstStyle/>
              <a:p>
                <a:pPr>
                  <a:defRPr sz="1300" b="0" i="0" u="none" strike="noStrike">
                    <a:solidFill>
                      <a:srgbClr val="2B2B2B"/>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Sédentaire</c:v>
                </c:pt>
                <c:pt idx="1">
                  <c:v>Peu actif</c:v>
                </c:pt>
                <c:pt idx="2">
                  <c:v>Modérément actif</c:v>
                </c:pt>
                <c:pt idx="3">
                  <c:v>Très actif</c:v>
                </c:pt>
              </c:strCache>
            </c:strRef>
          </c:cat>
          <c:val>
            <c:numRef>
              <c:f>Sheet1!$B$2:$B$5</c:f>
              <c:numCache>
                <c:formatCode>General</c:formatCode>
                <c:ptCount val="4"/>
                <c:pt idx="0">
                  <c:v>72.7</c:v>
                </c:pt>
                <c:pt idx="1">
                  <c:v>22.9</c:v>
                </c:pt>
                <c:pt idx="2">
                  <c:v>1.8</c:v>
                </c:pt>
                <c:pt idx="3">
                  <c:v>2.5</c:v>
                </c:pt>
              </c:numCache>
            </c:numRef>
          </c:val>
          <c:extLst>
            <c:ext xmlns:c16="http://schemas.microsoft.com/office/drawing/2014/chart" uri="{C3380CC4-5D6E-409C-BE32-E72D297353CC}">
              <c16:uniqueId val="{00000000-A3CD-4EAA-8B3A-E10C4501FEE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2B2B2B"/>
                </a:solidFill>
                <a:latin typeface="Arial"/>
              </a:defRPr>
            </a:pPr>
            <a:endParaRPr lang="fr-FR"/>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5260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8090"/>
        </a:solidFill>
        <a:effectLst/>
      </p:bgPr>
    </p:bg>
    <p:spTree>
      <p:nvGrpSpPr>
        <p:cNvPr id="1" name=""/>
        <p:cNvGrpSpPr/>
        <p:nvPr/>
      </p:nvGrpSpPr>
      <p:grpSpPr>
        <a:xfrm>
          <a:off x="0" y="0"/>
          <a:ext cx="0" cy="0"/>
          <a:chOff x="0" y="0"/>
          <a:chExt cx="0" cy="0"/>
        </a:xfrm>
      </p:grpSpPr>
      <p:sp>
        <p:nvSpPr>
          <p:cNvPr id="2" name="Text 0"/>
          <p:cNvSpPr txBox="1"/>
          <p:nvPr/>
        </p:nvSpPr>
        <p:spPr>
          <a:xfrm>
            <a:off x="731520" y="2011680"/>
            <a:ext cx="10698480" cy="914400"/>
          </a:xfrm>
          <a:prstGeom prst="rect">
            <a:avLst/>
          </a:prstGeom>
          <a:noFill/>
          <a:ln/>
        </p:spPr>
        <p:txBody>
          <a:bodyPr wrap="square" lIns="0" tIns="0" rIns="0" bIns="0" rtlCol="0" anchor="ctr"/>
          <a:lstStyle/>
          <a:p>
            <a:pPr marL="0" indent="0" algn="l">
              <a:buNone/>
            </a:pPr>
            <a:r>
              <a:rPr lang="en-US" sz="4400" b="1" dirty="0">
                <a:solidFill>
                  <a:srgbClr val="FFFFFF"/>
                </a:solidFill>
                <a:latin typeface="Cambria" pitchFamily="34" charset="0"/>
                <a:ea typeface="Cambria" pitchFamily="34" charset="-122"/>
                <a:cs typeface="Cambria" pitchFamily="34" charset="-120"/>
              </a:rPr>
              <a:t>Étude de cas Bellabeat</a:t>
            </a:r>
            <a:endParaRPr lang="en-US" sz="4400" dirty="0"/>
          </a:p>
        </p:txBody>
      </p:sp>
      <p:sp>
        <p:nvSpPr>
          <p:cNvPr id="3" name="Text 1"/>
          <p:cNvSpPr txBox="1"/>
          <p:nvPr/>
        </p:nvSpPr>
        <p:spPr>
          <a:xfrm>
            <a:off x="731520" y="2880360"/>
            <a:ext cx="9601200" cy="822960"/>
          </a:xfrm>
          <a:prstGeom prst="rect">
            <a:avLst/>
          </a:prstGeom>
          <a:noFill/>
          <a:ln/>
        </p:spPr>
        <p:txBody>
          <a:bodyPr wrap="square" lIns="0" tIns="0" rIns="0" bIns="0" rtlCol="0" anchor="ctr"/>
          <a:lstStyle/>
          <a:p>
            <a:pPr marL="0" indent="0" algn="l">
              <a:buNone/>
            </a:pPr>
            <a:r>
              <a:rPr lang="en-US" sz="2000" dirty="0">
                <a:solidFill>
                  <a:srgbClr val="CADCFC"/>
                </a:solidFill>
                <a:latin typeface="Calibri" pitchFamily="34" charset="0"/>
                <a:ea typeface="Calibri" pitchFamily="34" charset="-122"/>
                <a:cs typeface="Calibri" pitchFamily="34" charset="-120"/>
              </a:rPr>
              <a:t>Analyse des données d'utilisation d'objets connectés de fitness</a:t>
            </a:r>
            <a:endParaRPr lang="en-US" sz="2000" dirty="0"/>
          </a:p>
          <a:p>
            <a:pPr marL="0" indent="0" algn="l">
              <a:buNone/>
            </a:pPr>
            <a:r>
              <a:rPr lang="en-US" sz="2000" dirty="0">
                <a:solidFill>
                  <a:srgbClr val="CADCFC"/>
                </a:solidFill>
                <a:latin typeface="Calibri" pitchFamily="34" charset="0"/>
                <a:ea typeface="Calibri" pitchFamily="34" charset="-122"/>
                <a:cs typeface="Calibri" pitchFamily="34" charset="-120"/>
              </a:rPr>
              <a:t>et recommandations marketing</a:t>
            </a:r>
            <a:endParaRPr lang="en-US" sz="2000" dirty="0"/>
          </a:p>
        </p:txBody>
      </p:sp>
      <p:sp>
        <p:nvSpPr>
          <p:cNvPr id="4" name="Shape 2"/>
          <p:cNvSpPr/>
          <p:nvPr/>
        </p:nvSpPr>
        <p:spPr>
          <a:xfrm>
            <a:off x="731520" y="3977640"/>
            <a:ext cx="1280160" cy="54864"/>
          </a:xfrm>
          <a:prstGeom prst="rect">
            <a:avLst/>
          </a:prstGeom>
          <a:solidFill>
            <a:srgbClr val="02C39A"/>
          </a:solidFill>
          <a:ln/>
        </p:spPr>
      </p:sp>
      <p:sp>
        <p:nvSpPr>
          <p:cNvPr id="5" name="Text 3"/>
          <p:cNvSpPr txBox="1"/>
          <p:nvPr/>
        </p:nvSpPr>
        <p:spPr>
          <a:xfrm>
            <a:off x="731520" y="5989320"/>
            <a:ext cx="7315200" cy="640080"/>
          </a:xfrm>
          <a:prstGeom prst="rect">
            <a:avLst/>
          </a:prstGeom>
          <a:noFill/>
          <a:ln/>
        </p:spPr>
        <p:txBody>
          <a:bodyPr wrap="square" lIns="0" tIns="0" rIns="0" bIns="0" rtlCol="0" anchor="ctr"/>
          <a:lstStyle/>
          <a:p>
            <a:pPr marL="0" indent="0" algn="l">
              <a:buNone/>
            </a:pPr>
            <a:r>
              <a:rPr lang="en-US" sz="1500" dirty="0">
                <a:solidFill>
                  <a:srgbClr val="CADCFC"/>
                </a:solidFill>
                <a:latin typeface="Calibri" pitchFamily="34" charset="0"/>
                <a:ea typeface="Calibri" pitchFamily="34" charset="-122"/>
                <a:cs typeface="Calibri" pitchFamily="34" charset="-120"/>
              </a:rPr>
              <a:t>Étude de cas — Portfolio Data Analyst</a:t>
            </a:r>
            <a:endParaRPr lang="en-US" sz="1500" dirty="0"/>
          </a:p>
          <a:p>
            <a:pPr marL="0" indent="0" algn="l">
              <a:buNone/>
            </a:pPr>
            <a:r>
              <a:rPr lang="en-US" sz="1500" dirty="0">
                <a:solidFill>
                  <a:srgbClr val="CADCFC"/>
                </a:solidFill>
                <a:latin typeface="Calibri" pitchFamily="34" charset="0"/>
                <a:ea typeface="Calibri" pitchFamily="34" charset="-122"/>
                <a:cs typeface="Calibri" pitchFamily="34" charset="-120"/>
              </a:rPr>
              <a:t>Maïva</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0972800" cy="640080"/>
          </a:xfrm>
          <a:prstGeom prst="rect">
            <a:avLst/>
          </a:prstGeom>
          <a:noFill/>
          <a:ln/>
        </p:spPr>
        <p:txBody>
          <a:bodyPr wrap="square" lIns="0" tIns="0" rIns="0" bIns="0" rtlCol="0" anchor="ctr"/>
          <a:lstStyle/>
          <a:p>
            <a:pPr marL="0" indent="0">
              <a:buNone/>
            </a:pPr>
            <a:r>
              <a:rPr lang="en-US" sz="3600" b="1" dirty="0">
                <a:solidFill>
                  <a:srgbClr val="028090"/>
                </a:solidFill>
                <a:latin typeface="Cambria" pitchFamily="34" charset="0"/>
                <a:ea typeface="Cambria" pitchFamily="34" charset="-122"/>
                <a:cs typeface="Cambria" pitchFamily="34" charset="-120"/>
              </a:rPr>
              <a:t>Mission commerciale</a:t>
            </a:r>
            <a:endParaRPr lang="en-US" sz="3600" dirty="0"/>
          </a:p>
        </p:txBody>
      </p:sp>
      <p:sp>
        <p:nvSpPr>
          <p:cNvPr id="3" name="Text 1"/>
          <p:cNvSpPr txBox="1"/>
          <p:nvPr/>
        </p:nvSpPr>
        <p:spPr>
          <a:xfrm>
            <a:off x="548640" y="1463040"/>
            <a:ext cx="6492240" cy="2743200"/>
          </a:xfrm>
          <a:prstGeom prst="rect">
            <a:avLst/>
          </a:prstGeom>
          <a:noFill/>
          <a:ln/>
        </p:spPr>
        <p:txBody>
          <a:bodyPr wrap="square" lIns="0" tIns="0" rIns="0" bIns="0" rtlCol="0" anchor="t"/>
          <a:lstStyle/>
          <a:p>
            <a:pPr marL="0" indent="0" algn="just">
              <a:buNone/>
            </a:pPr>
            <a:r>
              <a:rPr lang="en-US" sz="2000" dirty="0">
                <a:solidFill>
                  <a:srgbClr val="2B2B2B"/>
                </a:solidFill>
                <a:latin typeface="Calibri" pitchFamily="34" charset="0"/>
                <a:ea typeface="Calibri" pitchFamily="34" charset="-122"/>
                <a:cs typeface="Calibri" pitchFamily="34" charset="-120"/>
              </a:rPr>
              <a:t>Bellabeat souhaite comprendre les tendances d'utilisation des objets connectés de fitness afin d'identifier de nouvelles opportunités de croissance. L'objectif de cette analyse est d'étudier les habitudes des utilisateurs à partir de données FitBit, puis d'appliquer ces enseignements à un produit Bellabeat pour orienter la stratégie marketing de l'entreprise.</a:t>
            </a:r>
            <a:endParaRPr lang="en-US" sz="2000" dirty="0"/>
          </a:p>
        </p:txBody>
      </p:sp>
      <p:sp>
        <p:nvSpPr>
          <p:cNvPr id="4" name="Shape 2"/>
          <p:cNvSpPr/>
          <p:nvPr/>
        </p:nvSpPr>
        <p:spPr>
          <a:xfrm>
            <a:off x="7589520" y="1463040"/>
            <a:ext cx="4023360" cy="4023360"/>
          </a:xfrm>
          <a:prstGeom prst="rect">
            <a:avLst/>
          </a:prstGeom>
          <a:solidFill>
            <a:srgbClr val="F0FAF8"/>
          </a:solidFill>
          <a:ln/>
        </p:spPr>
      </p:sp>
      <p:sp>
        <p:nvSpPr>
          <p:cNvPr id="5" name="Text 3"/>
          <p:cNvSpPr txBox="1"/>
          <p:nvPr/>
        </p:nvSpPr>
        <p:spPr>
          <a:xfrm>
            <a:off x="7863840" y="1691640"/>
            <a:ext cx="3474720" cy="365760"/>
          </a:xfrm>
          <a:prstGeom prst="rect">
            <a:avLst/>
          </a:prstGeom>
          <a:noFill/>
          <a:ln/>
        </p:spPr>
        <p:txBody>
          <a:bodyPr wrap="square" lIns="0" tIns="0" rIns="0" bIns="0" rtlCol="0" anchor="ctr"/>
          <a:lstStyle/>
          <a:p>
            <a:pPr marL="0" indent="0">
              <a:buNone/>
            </a:pPr>
            <a:r>
              <a:rPr lang="en-US" sz="1800" b="1" dirty="0">
                <a:solidFill>
                  <a:srgbClr val="028090"/>
                </a:solidFill>
                <a:latin typeface="Cambria" pitchFamily="34" charset="0"/>
                <a:ea typeface="Cambria" pitchFamily="34" charset="-122"/>
                <a:cs typeface="Cambria" pitchFamily="34" charset="-120"/>
              </a:rPr>
              <a:t>Questions clés</a:t>
            </a:r>
            <a:endParaRPr lang="en-US" sz="1800" dirty="0"/>
          </a:p>
        </p:txBody>
      </p:sp>
      <p:sp>
        <p:nvSpPr>
          <p:cNvPr id="6" name="Text 4"/>
          <p:cNvSpPr txBox="1"/>
          <p:nvPr/>
        </p:nvSpPr>
        <p:spPr>
          <a:xfrm>
            <a:off x="7863840" y="2194560"/>
            <a:ext cx="3474720" cy="2926080"/>
          </a:xfrm>
          <a:prstGeom prst="rect">
            <a:avLst/>
          </a:prstGeom>
          <a:noFill/>
          <a:ln/>
        </p:spPr>
        <p:txBody>
          <a:bodyPr wrap="square" lIns="0" tIns="0" rIns="0" bIns="0" rtlCol="0" anchor="t"/>
          <a:lstStyle/>
          <a:p>
            <a:pPr marL="342900" indent="-342900">
              <a:spcAft>
                <a:spcPts val="1200"/>
              </a:spcAft>
              <a:buSzPct val="100000"/>
              <a:buChar char="•"/>
            </a:pPr>
            <a:r>
              <a:rPr lang="en-US" dirty="0">
                <a:solidFill>
                  <a:srgbClr val="2B2B2B"/>
                </a:solidFill>
                <a:latin typeface="Calibri" pitchFamily="34" charset="0"/>
                <a:ea typeface="Calibri" pitchFamily="34" charset="-122"/>
                <a:cs typeface="Calibri" pitchFamily="34" charset="-120"/>
              </a:rPr>
              <a:t>Quelles sont les tendances d'usage des objets connectés ?</a:t>
            </a:r>
            <a:endParaRPr lang="en-US" dirty="0"/>
          </a:p>
          <a:p>
            <a:pPr marL="342900" indent="-342900">
              <a:spcAft>
                <a:spcPts val="1200"/>
              </a:spcAft>
              <a:buSzPct val="100000"/>
              <a:buChar char="•"/>
            </a:pPr>
            <a:r>
              <a:rPr lang="en-US" dirty="0">
                <a:solidFill>
                  <a:srgbClr val="2B2B2B"/>
                </a:solidFill>
                <a:latin typeface="Calibri" pitchFamily="34" charset="0"/>
                <a:ea typeface="Calibri" pitchFamily="34" charset="-122"/>
                <a:cs typeface="Calibri" pitchFamily="34" charset="-120"/>
              </a:rPr>
              <a:t>Comment s'appliquent-elles aux clientes Bellabeat ?</a:t>
            </a:r>
            <a:endParaRPr lang="en-US" dirty="0"/>
          </a:p>
          <a:p>
            <a:pPr marL="342900" indent="-342900">
              <a:spcAft>
                <a:spcPts val="1200"/>
              </a:spcAft>
              <a:buSzPct val="100000"/>
              <a:buChar char="•"/>
            </a:pPr>
            <a:r>
              <a:rPr lang="en-US" dirty="0">
                <a:solidFill>
                  <a:srgbClr val="2B2B2B"/>
                </a:solidFill>
                <a:latin typeface="Calibri" pitchFamily="34" charset="0"/>
                <a:ea typeface="Calibri" pitchFamily="34" charset="-122"/>
                <a:cs typeface="Calibri" pitchFamily="34" charset="-120"/>
              </a:rPr>
              <a:t>Comment orienter la stratégie marketing ?</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0972800" cy="640080"/>
          </a:xfrm>
          <a:prstGeom prst="rect">
            <a:avLst/>
          </a:prstGeom>
          <a:noFill/>
          <a:ln/>
        </p:spPr>
        <p:txBody>
          <a:bodyPr wrap="square" lIns="0" tIns="0" rIns="0" bIns="0" rtlCol="0" anchor="ctr"/>
          <a:lstStyle/>
          <a:p>
            <a:pPr marL="0" indent="0">
              <a:buNone/>
            </a:pPr>
            <a:r>
              <a:rPr lang="en-US" sz="3600" b="1" dirty="0">
                <a:solidFill>
                  <a:srgbClr val="028090"/>
                </a:solidFill>
                <a:latin typeface="Cambria" pitchFamily="34" charset="0"/>
                <a:ea typeface="Cambria" pitchFamily="34" charset="-122"/>
                <a:cs typeface="Cambria" pitchFamily="34" charset="-120"/>
              </a:rPr>
              <a:t>Sources de données</a:t>
            </a:r>
            <a:endParaRPr lang="en-US" sz="3600" dirty="0"/>
          </a:p>
        </p:txBody>
      </p:sp>
      <p:sp>
        <p:nvSpPr>
          <p:cNvPr id="3" name="Text 1"/>
          <p:cNvSpPr txBox="1"/>
          <p:nvPr/>
        </p:nvSpPr>
        <p:spPr>
          <a:xfrm>
            <a:off x="548640" y="1371600"/>
            <a:ext cx="10515600" cy="457200"/>
          </a:xfrm>
          <a:prstGeom prst="rect">
            <a:avLst/>
          </a:prstGeom>
          <a:noFill/>
          <a:ln/>
        </p:spPr>
        <p:txBody>
          <a:bodyPr wrap="square" lIns="0" tIns="0" rIns="0" bIns="0" rtlCol="0" anchor="ctr"/>
          <a:lstStyle/>
          <a:p>
            <a:pPr marL="0" indent="0">
              <a:buNone/>
            </a:pPr>
            <a:r>
              <a:rPr lang="en-US" sz="2200" b="1" dirty="0">
                <a:solidFill>
                  <a:srgbClr val="2B2B2B"/>
                </a:solidFill>
                <a:latin typeface="Cambria" pitchFamily="34" charset="0"/>
                <a:ea typeface="Cambria" pitchFamily="34" charset="-122"/>
                <a:cs typeface="Cambria" pitchFamily="34" charset="-120"/>
              </a:rPr>
              <a:t>FitBit Fitness Tracker Data</a:t>
            </a:r>
            <a:endParaRPr lang="en-US" sz="2200" dirty="0"/>
          </a:p>
        </p:txBody>
      </p:sp>
      <p:sp>
        <p:nvSpPr>
          <p:cNvPr id="4" name="Text 2"/>
          <p:cNvSpPr txBox="1"/>
          <p:nvPr/>
        </p:nvSpPr>
        <p:spPr>
          <a:xfrm>
            <a:off x="548640" y="1920240"/>
            <a:ext cx="10515600" cy="1005840"/>
          </a:xfrm>
          <a:prstGeom prst="rect">
            <a:avLst/>
          </a:prstGeom>
          <a:noFill/>
          <a:ln/>
        </p:spPr>
        <p:txBody>
          <a:bodyPr wrap="square" lIns="0" tIns="0" rIns="0" bIns="0" rtlCol="0" anchor="t"/>
          <a:lstStyle/>
          <a:p>
            <a:pPr marL="0" indent="0" algn="just">
              <a:buNone/>
            </a:pPr>
            <a:r>
              <a:rPr lang="en-US" dirty="0">
                <a:solidFill>
                  <a:srgbClr val="2B2B2B"/>
                </a:solidFill>
                <a:latin typeface="Calibri" pitchFamily="34" charset="0"/>
                <a:ea typeface="Calibri" pitchFamily="34" charset="-122"/>
                <a:cs typeface="Calibri" pitchFamily="34" charset="-120"/>
              </a:rPr>
              <a:t>Jeu de données public (licence CC0) mis à disposition via Mobius sur Kaggle. Il regroupe les données de suivi personnel de trente utilisateurs Fitbit ayant consenti à leur partage : activité quotidienne, sommeil, fréquence cardiaque.</a:t>
            </a:r>
            <a:endParaRPr lang="en-US" dirty="0"/>
          </a:p>
        </p:txBody>
      </p:sp>
      <p:sp>
        <p:nvSpPr>
          <p:cNvPr id="5" name="Shape 3"/>
          <p:cNvSpPr/>
          <p:nvPr/>
        </p:nvSpPr>
        <p:spPr>
          <a:xfrm>
            <a:off x="548640" y="3200400"/>
            <a:ext cx="2468880" cy="1371600"/>
          </a:xfrm>
          <a:prstGeom prst="rect">
            <a:avLst/>
          </a:prstGeom>
          <a:solidFill>
            <a:srgbClr val="00A896"/>
          </a:solidFill>
          <a:ln/>
        </p:spPr>
      </p:sp>
      <p:sp>
        <p:nvSpPr>
          <p:cNvPr id="6" name="Text 4"/>
          <p:cNvSpPr txBox="1"/>
          <p:nvPr/>
        </p:nvSpPr>
        <p:spPr>
          <a:xfrm>
            <a:off x="548640" y="3337560"/>
            <a:ext cx="2468880" cy="64008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33</a:t>
            </a:r>
            <a:endParaRPr lang="en-US" sz="3400" dirty="0"/>
          </a:p>
        </p:txBody>
      </p:sp>
      <p:sp>
        <p:nvSpPr>
          <p:cNvPr id="7" name="Text 5"/>
          <p:cNvSpPr txBox="1"/>
          <p:nvPr/>
        </p:nvSpPr>
        <p:spPr>
          <a:xfrm>
            <a:off x="548640" y="3977640"/>
            <a:ext cx="2468880" cy="45720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Utilisateurs (activité)</a:t>
            </a:r>
            <a:endParaRPr lang="en-US" sz="1400" dirty="0"/>
          </a:p>
        </p:txBody>
      </p:sp>
      <p:sp>
        <p:nvSpPr>
          <p:cNvPr id="8" name="Shape 6"/>
          <p:cNvSpPr/>
          <p:nvPr/>
        </p:nvSpPr>
        <p:spPr>
          <a:xfrm>
            <a:off x="3246120" y="3200400"/>
            <a:ext cx="2468880" cy="1371600"/>
          </a:xfrm>
          <a:prstGeom prst="rect">
            <a:avLst/>
          </a:prstGeom>
          <a:solidFill>
            <a:srgbClr val="00A896"/>
          </a:solidFill>
          <a:ln/>
        </p:spPr>
      </p:sp>
      <p:sp>
        <p:nvSpPr>
          <p:cNvPr id="9" name="Text 7"/>
          <p:cNvSpPr txBox="1"/>
          <p:nvPr/>
        </p:nvSpPr>
        <p:spPr>
          <a:xfrm>
            <a:off x="3246120" y="3337560"/>
            <a:ext cx="2468880" cy="64008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24</a:t>
            </a:r>
            <a:endParaRPr lang="en-US" sz="3400" dirty="0"/>
          </a:p>
        </p:txBody>
      </p:sp>
      <p:sp>
        <p:nvSpPr>
          <p:cNvPr id="10" name="Text 8"/>
          <p:cNvSpPr txBox="1"/>
          <p:nvPr/>
        </p:nvSpPr>
        <p:spPr>
          <a:xfrm>
            <a:off x="3246120" y="3977640"/>
            <a:ext cx="2468880" cy="45720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Utilisateurs (sommeil)</a:t>
            </a:r>
            <a:endParaRPr lang="en-US" sz="1400" dirty="0"/>
          </a:p>
        </p:txBody>
      </p:sp>
      <p:sp>
        <p:nvSpPr>
          <p:cNvPr id="11" name="Shape 9"/>
          <p:cNvSpPr/>
          <p:nvPr/>
        </p:nvSpPr>
        <p:spPr>
          <a:xfrm>
            <a:off x="5943600" y="3200400"/>
            <a:ext cx="2468880" cy="1371600"/>
          </a:xfrm>
          <a:prstGeom prst="rect">
            <a:avLst/>
          </a:prstGeom>
          <a:solidFill>
            <a:srgbClr val="00A896"/>
          </a:solidFill>
          <a:ln/>
        </p:spPr>
      </p:sp>
      <p:sp>
        <p:nvSpPr>
          <p:cNvPr id="12" name="Text 10"/>
          <p:cNvSpPr txBox="1"/>
          <p:nvPr/>
        </p:nvSpPr>
        <p:spPr>
          <a:xfrm>
            <a:off x="5943600" y="3337560"/>
            <a:ext cx="2468880" cy="64008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410</a:t>
            </a:r>
            <a:endParaRPr lang="en-US" sz="3400" dirty="0"/>
          </a:p>
        </p:txBody>
      </p:sp>
      <p:sp>
        <p:nvSpPr>
          <p:cNvPr id="13" name="Text 11"/>
          <p:cNvSpPr txBox="1"/>
          <p:nvPr/>
        </p:nvSpPr>
        <p:spPr>
          <a:xfrm>
            <a:off x="5943600" y="3977640"/>
            <a:ext cx="2468880" cy="45720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Jours de données</a:t>
            </a:r>
            <a:endParaRPr lang="en-US" sz="1400" dirty="0"/>
          </a:p>
        </p:txBody>
      </p:sp>
      <p:sp>
        <p:nvSpPr>
          <p:cNvPr id="14" name="Shape 12"/>
          <p:cNvSpPr/>
          <p:nvPr/>
        </p:nvSpPr>
        <p:spPr>
          <a:xfrm>
            <a:off x="8641080" y="3200400"/>
            <a:ext cx="2468880" cy="1371600"/>
          </a:xfrm>
          <a:prstGeom prst="rect">
            <a:avLst/>
          </a:prstGeom>
          <a:solidFill>
            <a:srgbClr val="00A896"/>
          </a:solidFill>
          <a:ln/>
        </p:spPr>
      </p:sp>
      <p:sp>
        <p:nvSpPr>
          <p:cNvPr id="15" name="Text 13"/>
          <p:cNvSpPr txBox="1"/>
          <p:nvPr/>
        </p:nvSpPr>
        <p:spPr>
          <a:xfrm>
            <a:off x="8641080" y="3337560"/>
            <a:ext cx="2468880" cy="64008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CC0</a:t>
            </a:r>
            <a:endParaRPr lang="en-US" sz="3400" dirty="0"/>
          </a:p>
        </p:txBody>
      </p:sp>
      <p:sp>
        <p:nvSpPr>
          <p:cNvPr id="16" name="Text 14"/>
          <p:cNvSpPr txBox="1"/>
          <p:nvPr/>
        </p:nvSpPr>
        <p:spPr>
          <a:xfrm>
            <a:off x="8641080" y="3977640"/>
            <a:ext cx="2468880" cy="45720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Licence</a:t>
            </a:r>
            <a:endParaRPr lang="en-US" sz="1400" dirty="0"/>
          </a:p>
        </p:txBody>
      </p:sp>
      <p:sp>
        <p:nvSpPr>
          <p:cNvPr id="17" name="Text 15"/>
          <p:cNvSpPr txBox="1"/>
          <p:nvPr/>
        </p:nvSpPr>
        <p:spPr>
          <a:xfrm>
            <a:off x="548640" y="4937760"/>
            <a:ext cx="10515600" cy="731520"/>
          </a:xfrm>
          <a:prstGeom prst="rect">
            <a:avLst/>
          </a:prstGeom>
          <a:noFill/>
          <a:ln/>
        </p:spPr>
        <p:txBody>
          <a:bodyPr wrap="square" lIns="0" tIns="0" rIns="0" bIns="0" rtlCol="0" anchor="t"/>
          <a:lstStyle/>
          <a:p>
            <a:pPr marL="0" indent="0">
              <a:buNone/>
            </a:pPr>
            <a:r>
              <a:rPr lang="en-US" sz="1600" i="1" dirty="0">
                <a:solidFill>
                  <a:srgbClr val="6B6B6B"/>
                </a:solidFill>
                <a:latin typeface="Calibri" pitchFamily="34" charset="0"/>
                <a:ea typeface="Calibri" pitchFamily="34" charset="-122"/>
                <a:cs typeface="Calibri" pitchFamily="34" charset="-120"/>
              </a:rPr>
              <a:t>Limite identifiée : seuls 24 des 33 utilisateurs ont renseigné des données de sommeil — un point à garder en tête dans l'interprétation des résultats.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0972800" cy="640080"/>
          </a:xfrm>
          <a:prstGeom prst="rect">
            <a:avLst/>
          </a:prstGeom>
          <a:noFill/>
          <a:ln/>
        </p:spPr>
        <p:txBody>
          <a:bodyPr wrap="square" lIns="0" tIns="0" rIns="0" bIns="0" rtlCol="0" anchor="ctr"/>
          <a:lstStyle/>
          <a:p>
            <a:pPr marL="0" indent="0">
              <a:buNone/>
            </a:pPr>
            <a:r>
              <a:rPr lang="en-US" sz="3600" b="1" dirty="0">
                <a:solidFill>
                  <a:srgbClr val="028090"/>
                </a:solidFill>
                <a:latin typeface="Cambria" pitchFamily="34" charset="0"/>
                <a:ea typeface="Cambria" pitchFamily="34" charset="-122"/>
                <a:cs typeface="Cambria" pitchFamily="34" charset="-120"/>
              </a:rPr>
              <a:t>Préparation des données</a:t>
            </a:r>
            <a:endParaRPr lang="en-US" sz="3600" dirty="0"/>
          </a:p>
        </p:txBody>
      </p:sp>
      <p:sp>
        <p:nvSpPr>
          <p:cNvPr id="3" name="Shape 1"/>
          <p:cNvSpPr/>
          <p:nvPr/>
        </p:nvSpPr>
        <p:spPr>
          <a:xfrm>
            <a:off x="548640" y="1554480"/>
            <a:ext cx="640080" cy="640080"/>
          </a:xfrm>
          <a:prstGeom prst="ellipse">
            <a:avLst/>
          </a:prstGeom>
          <a:solidFill>
            <a:srgbClr val="02C39A"/>
          </a:solidFill>
          <a:ln/>
        </p:spPr>
      </p:sp>
      <p:sp>
        <p:nvSpPr>
          <p:cNvPr id="4" name="Text 2"/>
          <p:cNvSpPr txBox="1"/>
          <p:nvPr/>
        </p:nvSpPr>
        <p:spPr>
          <a:xfrm>
            <a:off x="548640" y="155448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5" name="Text 3"/>
          <p:cNvSpPr txBox="1"/>
          <p:nvPr/>
        </p:nvSpPr>
        <p:spPr>
          <a:xfrm>
            <a:off x="411480" y="2331720"/>
            <a:ext cx="3291840" cy="365760"/>
          </a:xfrm>
          <a:prstGeom prst="rect">
            <a:avLst/>
          </a:prstGeom>
          <a:noFill/>
          <a:ln/>
        </p:spPr>
        <p:txBody>
          <a:bodyPr wrap="square" lIns="0" tIns="0" rIns="0" bIns="0" rtlCol="0" anchor="ctr"/>
          <a:lstStyle/>
          <a:p>
            <a:pPr marL="0" indent="0">
              <a:buNone/>
            </a:pPr>
            <a:r>
              <a:rPr lang="en-US" sz="1800" b="1" dirty="0">
                <a:solidFill>
                  <a:srgbClr val="028090"/>
                </a:solidFill>
                <a:latin typeface="Cambria" pitchFamily="34" charset="0"/>
                <a:ea typeface="Cambria" pitchFamily="34" charset="-122"/>
                <a:cs typeface="Cambria" pitchFamily="34" charset="-120"/>
              </a:rPr>
              <a:t>Import</a:t>
            </a:r>
            <a:endParaRPr lang="en-US" sz="1800" dirty="0"/>
          </a:p>
        </p:txBody>
      </p:sp>
      <p:sp>
        <p:nvSpPr>
          <p:cNvPr id="6" name="Text 4"/>
          <p:cNvSpPr txBox="1"/>
          <p:nvPr/>
        </p:nvSpPr>
        <p:spPr>
          <a:xfrm>
            <a:off x="411480" y="2743200"/>
            <a:ext cx="3291840" cy="1645920"/>
          </a:xfrm>
          <a:prstGeom prst="rect">
            <a:avLst/>
          </a:prstGeom>
          <a:noFill/>
          <a:ln/>
        </p:spPr>
        <p:txBody>
          <a:bodyPr wrap="square" lIns="0" tIns="0" rIns="0" bIns="0" rtlCol="0" anchor="t"/>
          <a:lstStyle/>
          <a:p>
            <a:pPr marL="0" indent="0">
              <a:buNone/>
            </a:pPr>
            <a:r>
              <a:rPr lang="en-US" sz="1600" dirty="0">
                <a:solidFill>
                  <a:srgbClr val="2B2B2B"/>
                </a:solidFill>
                <a:latin typeface="Calibri" pitchFamily="34" charset="0"/>
                <a:ea typeface="Calibri" pitchFamily="34" charset="-122"/>
                <a:cs typeface="Calibri" pitchFamily="34" charset="-120"/>
              </a:rPr>
              <a:t>Chargement des fichiers dailyActivity_merged et sleepDay_merged avec Python (pandas).</a:t>
            </a:r>
            <a:endParaRPr lang="en-US" sz="1600" dirty="0"/>
          </a:p>
        </p:txBody>
      </p:sp>
      <p:sp>
        <p:nvSpPr>
          <p:cNvPr id="7" name="Shape 5"/>
          <p:cNvSpPr/>
          <p:nvPr/>
        </p:nvSpPr>
        <p:spPr>
          <a:xfrm>
            <a:off x="4297680" y="1554480"/>
            <a:ext cx="640080" cy="640080"/>
          </a:xfrm>
          <a:prstGeom prst="ellipse">
            <a:avLst/>
          </a:prstGeom>
          <a:solidFill>
            <a:srgbClr val="02C39A"/>
          </a:solidFill>
          <a:ln/>
        </p:spPr>
      </p:sp>
      <p:sp>
        <p:nvSpPr>
          <p:cNvPr id="8" name="Text 6"/>
          <p:cNvSpPr txBox="1"/>
          <p:nvPr/>
        </p:nvSpPr>
        <p:spPr>
          <a:xfrm>
            <a:off x="4297680" y="155448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9" name="Text 7"/>
          <p:cNvSpPr txBox="1"/>
          <p:nvPr/>
        </p:nvSpPr>
        <p:spPr>
          <a:xfrm>
            <a:off x="4160520" y="2331720"/>
            <a:ext cx="3291840" cy="365760"/>
          </a:xfrm>
          <a:prstGeom prst="rect">
            <a:avLst/>
          </a:prstGeom>
          <a:noFill/>
          <a:ln/>
        </p:spPr>
        <p:txBody>
          <a:bodyPr wrap="square" lIns="0" tIns="0" rIns="0" bIns="0" rtlCol="0" anchor="ctr"/>
          <a:lstStyle/>
          <a:p>
            <a:pPr marL="0" indent="0">
              <a:buNone/>
            </a:pPr>
            <a:r>
              <a:rPr lang="en-US" sz="1800" b="1" dirty="0">
                <a:solidFill>
                  <a:srgbClr val="028090"/>
                </a:solidFill>
                <a:latin typeface="Cambria" pitchFamily="34" charset="0"/>
                <a:ea typeface="Cambria" pitchFamily="34" charset="-122"/>
                <a:cs typeface="Cambria" pitchFamily="34" charset="-120"/>
              </a:rPr>
              <a:t>Nettoyage</a:t>
            </a:r>
            <a:endParaRPr lang="en-US" sz="1800" dirty="0"/>
          </a:p>
        </p:txBody>
      </p:sp>
      <p:sp>
        <p:nvSpPr>
          <p:cNvPr id="10" name="Text 8"/>
          <p:cNvSpPr txBox="1"/>
          <p:nvPr/>
        </p:nvSpPr>
        <p:spPr>
          <a:xfrm>
            <a:off x="4160520" y="2743200"/>
            <a:ext cx="3291840" cy="1645920"/>
          </a:xfrm>
          <a:prstGeom prst="rect">
            <a:avLst/>
          </a:prstGeom>
          <a:noFill/>
          <a:ln/>
        </p:spPr>
        <p:txBody>
          <a:bodyPr wrap="square" lIns="0" tIns="0" rIns="0" bIns="0" rtlCol="0" anchor="t"/>
          <a:lstStyle/>
          <a:p>
            <a:pPr marL="0" indent="0">
              <a:buNone/>
            </a:pPr>
            <a:r>
              <a:rPr lang="en-US" sz="1600" dirty="0">
                <a:solidFill>
                  <a:srgbClr val="2B2B2B"/>
                </a:solidFill>
                <a:latin typeface="Calibri" pitchFamily="34" charset="0"/>
                <a:ea typeface="Calibri" pitchFamily="34" charset="-122"/>
                <a:cs typeface="Calibri" pitchFamily="34" charset="-120"/>
              </a:rPr>
              <a:t>Suppression de 3 lignes dupliquées et conversion des colonnes de date au format datetime.</a:t>
            </a:r>
            <a:endParaRPr lang="en-US" sz="1600" dirty="0"/>
          </a:p>
        </p:txBody>
      </p:sp>
      <p:sp>
        <p:nvSpPr>
          <p:cNvPr id="11" name="Shape 9"/>
          <p:cNvSpPr/>
          <p:nvPr/>
        </p:nvSpPr>
        <p:spPr>
          <a:xfrm>
            <a:off x="8046720" y="1554480"/>
            <a:ext cx="640080" cy="640080"/>
          </a:xfrm>
          <a:prstGeom prst="ellipse">
            <a:avLst/>
          </a:prstGeom>
          <a:solidFill>
            <a:srgbClr val="02C39A"/>
          </a:solidFill>
          <a:ln/>
        </p:spPr>
      </p:sp>
      <p:sp>
        <p:nvSpPr>
          <p:cNvPr id="12" name="Text 10"/>
          <p:cNvSpPr txBox="1"/>
          <p:nvPr/>
        </p:nvSpPr>
        <p:spPr>
          <a:xfrm>
            <a:off x="8046720" y="155448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3" name="Text 11"/>
          <p:cNvSpPr txBox="1"/>
          <p:nvPr/>
        </p:nvSpPr>
        <p:spPr>
          <a:xfrm>
            <a:off x="7909560" y="2331720"/>
            <a:ext cx="3291840" cy="365760"/>
          </a:xfrm>
          <a:prstGeom prst="rect">
            <a:avLst/>
          </a:prstGeom>
          <a:noFill/>
          <a:ln/>
        </p:spPr>
        <p:txBody>
          <a:bodyPr wrap="square" lIns="0" tIns="0" rIns="0" bIns="0" rtlCol="0" anchor="ctr"/>
          <a:lstStyle/>
          <a:p>
            <a:pPr marL="0" indent="0">
              <a:buNone/>
            </a:pPr>
            <a:r>
              <a:rPr lang="en-US" sz="1800" b="1" dirty="0">
                <a:solidFill>
                  <a:srgbClr val="028090"/>
                </a:solidFill>
                <a:latin typeface="Cambria" pitchFamily="34" charset="0"/>
                <a:ea typeface="Cambria" pitchFamily="34" charset="-122"/>
                <a:cs typeface="Cambria" pitchFamily="34" charset="-120"/>
              </a:rPr>
              <a:t>Fusion</a:t>
            </a:r>
            <a:endParaRPr lang="en-US" sz="1800" dirty="0"/>
          </a:p>
        </p:txBody>
      </p:sp>
      <p:sp>
        <p:nvSpPr>
          <p:cNvPr id="14" name="Text 12"/>
          <p:cNvSpPr txBox="1"/>
          <p:nvPr/>
        </p:nvSpPr>
        <p:spPr>
          <a:xfrm>
            <a:off x="7909560" y="2743200"/>
            <a:ext cx="3291840" cy="1645920"/>
          </a:xfrm>
          <a:prstGeom prst="rect">
            <a:avLst/>
          </a:prstGeom>
          <a:noFill/>
          <a:ln/>
        </p:spPr>
        <p:txBody>
          <a:bodyPr wrap="square" lIns="0" tIns="0" rIns="0" bIns="0" rtlCol="0" anchor="t"/>
          <a:lstStyle/>
          <a:p>
            <a:pPr marL="0" indent="0">
              <a:buNone/>
            </a:pPr>
            <a:r>
              <a:rPr lang="en-US" sz="1600" dirty="0">
                <a:solidFill>
                  <a:srgbClr val="2B2B2B"/>
                </a:solidFill>
                <a:latin typeface="Calibri" pitchFamily="34" charset="0"/>
                <a:ea typeface="Calibri" pitchFamily="34" charset="-122"/>
                <a:cs typeface="Calibri" pitchFamily="34" charset="-120"/>
              </a:rPr>
              <a:t>Jointure des deux tableaux sur l'identifiant utilisateur et la date, pour 410 jours communs.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0972800" cy="640080"/>
          </a:xfrm>
          <a:prstGeom prst="rect">
            <a:avLst/>
          </a:prstGeom>
          <a:noFill/>
          <a:ln/>
        </p:spPr>
        <p:txBody>
          <a:bodyPr wrap="square" lIns="0" tIns="0" rIns="0" bIns="0" rtlCol="0" anchor="ctr"/>
          <a:lstStyle/>
          <a:p>
            <a:pPr marL="0" indent="0">
              <a:buNone/>
            </a:pPr>
            <a:r>
              <a:rPr lang="en-US" sz="3600" b="1" dirty="0">
                <a:solidFill>
                  <a:srgbClr val="028090"/>
                </a:solidFill>
                <a:latin typeface="Cambria" pitchFamily="34" charset="0"/>
                <a:ea typeface="Cambria" pitchFamily="34" charset="-122"/>
                <a:cs typeface="Cambria" pitchFamily="34" charset="-120"/>
              </a:rPr>
              <a:t>Résultats clés de l'analyse</a:t>
            </a:r>
            <a:endParaRPr lang="en-US" sz="3600" dirty="0"/>
          </a:p>
        </p:txBody>
      </p:sp>
      <p:sp>
        <p:nvSpPr>
          <p:cNvPr id="3" name="Text 1"/>
          <p:cNvSpPr txBox="1"/>
          <p:nvPr/>
        </p:nvSpPr>
        <p:spPr>
          <a:xfrm>
            <a:off x="548640" y="1554480"/>
            <a:ext cx="2606040" cy="914400"/>
          </a:xfrm>
          <a:prstGeom prst="rect">
            <a:avLst/>
          </a:prstGeom>
          <a:noFill/>
          <a:ln/>
        </p:spPr>
        <p:txBody>
          <a:bodyPr wrap="square" lIns="0" tIns="0" rIns="0" bIns="0" rtlCol="0" anchor="ctr"/>
          <a:lstStyle/>
          <a:p>
            <a:pPr marL="0" indent="0" algn="ctr">
              <a:buNone/>
            </a:pPr>
            <a:r>
              <a:rPr lang="en-US" sz="3800" b="1" dirty="0">
                <a:solidFill>
                  <a:srgbClr val="00A896"/>
                </a:solidFill>
                <a:latin typeface="Cambria" pitchFamily="34" charset="0"/>
                <a:ea typeface="Cambria" pitchFamily="34" charset="-122"/>
                <a:cs typeface="Cambria" pitchFamily="34" charset="-120"/>
              </a:rPr>
              <a:t>8 515</a:t>
            </a:r>
            <a:endParaRPr lang="en-US" sz="3800" dirty="0"/>
          </a:p>
        </p:txBody>
      </p:sp>
      <p:sp>
        <p:nvSpPr>
          <p:cNvPr id="4" name="Text 2"/>
          <p:cNvSpPr txBox="1"/>
          <p:nvPr/>
        </p:nvSpPr>
        <p:spPr>
          <a:xfrm>
            <a:off x="548640" y="2423160"/>
            <a:ext cx="2606040" cy="914400"/>
          </a:xfrm>
          <a:prstGeom prst="rect">
            <a:avLst/>
          </a:prstGeom>
          <a:noFill/>
          <a:ln/>
        </p:spPr>
        <p:txBody>
          <a:bodyPr wrap="square" lIns="0" tIns="0" rIns="0" bIns="0" rtlCol="0" anchor="t"/>
          <a:lstStyle/>
          <a:p>
            <a:pPr marL="0" indent="0" algn="ctr">
              <a:buNone/>
            </a:pPr>
            <a:r>
              <a:rPr lang="en-US" sz="1600" dirty="0">
                <a:solidFill>
                  <a:srgbClr val="6B6B6B"/>
                </a:solidFill>
                <a:latin typeface="Calibri" pitchFamily="34" charset="0"/>
                <a:ea typeface="Calibri" pitchFamily="34" charset="-122"/>
                <a:cs typeface="Calibri" pitchFamily="34" charset="-120"/>
              </a:rPr>
              <a:t>pas quotidiens en moyenne</a:t>
            </a:r>
            <a:endParaRPr lang="en-US" sz="1600" dirty="0"/>
          </a:p>
          <a:p>
            <a:pPr marL="0" indent="0" algn="ctr">
              <a:buNone/>
            </a:pPr>
            <a:r>
              <a:rPr lang="en-US" sz="1600" dirty="0">
                <a:solidFill>
                  <a:srgbClr val="6B6B6B"/>
                </a:solidFill>
                <a:latin typeface="Calibri" pitchFamily="34" charset="0"/>
                <a:ea typeface="Calibri" pitchFamily="34" charset="-122"/>
                <a:cs typeface="Calibri" pitchFamily="34" charset="-120"/>
              </a:rPr>
              <a:t>(sous les 10 000 recommandés)</a:t>
            </a:r>
            <a:endParaRPr lang="en-US" sz="1600" dirty="0"/>
          </a:p>
        </p:txBody>
      </p:sp>
      <p:sp>
        <p:nvSpPr>
          <p:cNvPr id="5" name="Text 3"/>
          <p:cNvSpPr txBox="1"/>
          <p:nvPr/>
        </p:nvSpPr>
        <p:spPr>
          <a:xfrm>
            <a:off x="3291840" y="1554480"/>
            <a:ext cx="2606040" cy="914400"/>
          </a:xfrm>
          <a:prstGeom prst="rect">
            <a:avLst/>
          </a:prstGeom>
          <a:noFill/>
          <a:ln/>
        </p:spPr>
        <p:txBody>
          <a:bodyPr wrap="square" lIns="0" tIns="0" rIns="0" bIns="0" rtlCol="0" anchor="ctr"/>
          <a:lstStyle/>
          <a:p>
            <a:pPr marL="0" indent="0" algn="ctr">
              <a:buNone/>
            </a:pPr>
            <a:r>
              <a:rPr lang="en-US" sz="3800" b="1" dirty="0">
                <a:solidFill>
                  <a:srgbClr val="00A896"/>
                </a:solidFill>
                <a:latin typeface="Cambria" pitchFamily="34" charset="0"/>
                <a:ea typeface="Cambria" pitchFamily="34" charset="-122"/>
                <a:cs typeface="Cambria" pitchFamily="34" charset="-120"/>
              </a:rPr>
              <a:t>72,7 %</a:t>
            </a:r>
            <a:endParaRPr lang="en-US" sz="3800" dirty="0"/>
          </a:p>
        </p:txBody>
      </p:sp>
      <p:sp>
        <p:nvSpPr>
          <p:cNvPr id="6" name="Text 4"/>
          <p:cNvSpPr txBox="1"/>
          <p:nvPr/>
        </p:nvSpPr>
        <p:spPr>
          <a:xfrm>
            <a:off x="3291840" y="2423160"/>
            <a:ext cx="2606040" cy="914400"/>
          </a:xfrm>
          <a:prstGeom prst="rect">
            <a:avLst/>
          </a:prstGeom>
          <a:noFill/>
          <a:ln/>
        </p:spPr>
        <p:txBody>
          <a:bodyPr wrap="square" lIns="0" tIns="0" rIns="0" bIns="0" rtlCol="0" anchor="t"/>
          <a:lstStyle/>
          <a:p>
            <a:pPr marL="0" indent="0" algn="ctr">
              <a:buNone/>
            </a:pPr>
            <a:r>
              <a:rPr lang="en-US" sz="1600" dirty="0">
                <a:solidFill>
                  <a:srgbClr val="6B6B6B"/>
                </a:solidFill>
                <a:latin typeface="Calibri" pitchFamily="34" charset="0"/>
                <a:ea typeface="Calibri" pitchFamily="34" charset="-122"/>
                <a:cs typeface="Calibri" pitchFamily="34" charset="-120"/>
              </a:rPr>
              <a:t>du temps quotidien</a:t>
            </a:r>
            <a:endParaRPr lang="en-US" sz="1600" dirty="0"/>
          </a:p>
          <a:p>
            <a:pPr marL="0" indent="0" algn="ctr">
              <a:buNone/>
            </a:pPr>
            <a:r>
              <a:rPr lang="en-US" sz="1600" dirty="0">
                <a:solidFill>
                  <a:srgbClr val="6B6B6B"/>
                </a:solidFill>
                <a:latin typeface="Calibri" pitchFamily="34" charset="0"/>
                <a:ea typeface="Calibri" pitchFamily="34" charset="-122"/>
                <a:cs typeface="Calibri" pitchFamily="34" charset="-120"/>
              </a:rPr>
              <a:t>passé en position sédentaire</a:t>
            </a:r>
            <a:endParaRPr lang="en-US" sz="1600" dirty="0"/>
          </a:p>
        </p:txBody>
      </p:sp>
      <p:sp>
        <p:nvSpPr>
          <p:cNvPr id="7" name="Text 5"/>
          <p:cNvSpPr txBox="1"/>
          <p:nvPr/>
        </p:nvSpPr>
        <p:spPr>
          <a:xfrm>
            <a:off x="6035040" y="1554480"/>
            <a:ext cx="2606040" cy="914400"/>
          </a:xfrm>
          <a:prstGeom prst="rect">
            <a:avLst/>
          </a:prstGeom>
          <a:noFill/>
          <a:ln/>
        </p:spPr>
        <p:txBody>
          <a:bodyPr wrap="square" lIns="0" tIns="0" rIns="0" bIns="0" rtlCol="0" anchor="ctr"/>
          <a:lstStyle/>
          <a:p>
            <a:pPr marL="0" indent="0" algn="ctr">
              <a:buNone/>
            </a:pPr>
            <a:r>
              <a:rPr lang="en-US" sz="3800" b="1" dirty="0">
                <a:solidFill>
                  <a:srgbClr val="00A896"/>
                </a:solidFill>
                <a:latin typeface="Cambria" pitchFamily="34" charset="0"/>
                <a:ea typeface="Cambria" pitchFamily="34" charset="-122"/>
                <a:cs typeface="Cambria" pitchFamily="34" charset="-120"/>
              </a:rPr>
              <a:t>419 min</a:t>
            </a:r>
            <a:endParaRPr lang="en-US" sz="3800" dirty="0"/>
          </a:p>
        </p:txBody>
      </p:sp>
      <p:sp>
        <p:nvSpPr>
          <p:cNvPr id="8" name="Text 6"/>
          <p:cNvSpPr txBox="1"/>
          <p:nvPr/>
        </p:nvSpPr>
        <p:spPr>
          <a:xfrm>
            <a:off x="6035040" y="2423160"/>
            <a:ext cx="2606040" cy="914400"/>
          </a:xfrm>
          <a:prstGeom prst="rect">
            <a:avLst/>
          </a:prstGeom>
          <a:noFill/>
          <a:ln/>
        </p:spPr>
        <p:txBody>
          <a:bodyPr wrap="square" lIns="0" tIns="0" rIns="0" bIns="0" rtlCol="0" anchor="t"/>
          <a:lstStyle/>
          <a:p>
            <a:pPr marL="0" indent="0" algn="ctr">
              <a:buNone/>
            </a:pPr>
            <a:r>
              <a:rPr lang="en-US" sz="1600" dirty="0">
                <a:solidFill>
                  <a:srgbClr val="6B6B6B"/>
                </a:solidFill>
                <a:latin typeface="Calibri" pitchFamily="34" charset="0"/>
                <a:ea typeface="Calibri" pitchFamily="34" charset="-122"/>
                <a:cs typeface="Calibri" pitchFamily="34" charset="-120"/>
              </a:rPr>
              <a:t>de sommeil en moyenne</a:t>
            </a:r>
            <a:endParaRPr lang="en-US" sz="1600" dirty="0"/>
          </a:p>
          <a:p>
            <a:pPr marL="0" indent="0" algn="ctr">
              <a:buNone/>
            </a:pPr>
            <a:r>
              <a:rPr lang="en-US" sz="1600" dirty="0">
                <a:solidFill>
                  <a:srgbClr val="6B6B6B"/>
                </a:solidFill>
                <a:latin typeface="Calibri" pitchFamily="34" charset="0"/>
                <a:ea typeface="Calibri" pitchFamily="34" charset="-122"/>
                <a:cs typeface="Calibri" pitchFamily="34" charset="-120"/>
              </a:rPr>
              <a:t>(≈ 7h par nuit)</a:t>
            </a:r>
            <a:endParaRPr lang="en-US" sz="1600" dirty="0"/>
          </a:p>
        </p:txBody>
      </p:sp>
      <p:sp>
        <p:nvSpPr>
          <p:cNvPr id="9" name="Text 7"/>
          <p:cNvSpPr txBox="1"/>
          <p:nvPr/>
        </p:nvSpPr>
        <p:spPr>
          <a:xfrm>
            <a:off x="8778240" y="1554480"/>
            <a:ext cx="2606040" cy="914400"/>
          </a:xfrm>
          <a:prstGeom prst="rect">
            <a:avLst/>
          </a:prstGeom>
          <a:noFill/>
          <a:ln/>
        </p:spPr>
        <p:txBody>
          <a:bodyPr wrap="square" lIns="0" tIns="0" rIns="0" bIns="0" rtlCol="0" anchor="ctr"/>
          <a:lstStyle/>
          <a:p>
            <a:pPr marL="0" indent="0" algn="ctr">
              <a:buNone/>
            </a:pPr>
            <a:r>
              <a:rPr lang="en-US" sz="3800" b="1" dirty="0">
                <a:solidFill>
                  <a:srgbClr val="00A896"/>
                </a:solidFill>
                <a:latin typeface="Cambria" pitchFamily="34" charset="0"/>
                <a:ea typeface="Cambria" pitchFamily="34" charset="-122"/>
                <a:cs typeface="Cambria" pitchFamily="34" charset="-120"/>
              </a:rPr>
              <a:t>39 min</a:t>
            </a:r>
            <a:endParaRPr lang="en-US" sz="3800" dirty="0"/>
          </a:p>
        </p:txBody>
      </p:sp>
      <p:sp>
        <p:nvSpPr>
          <p:cNvPr id="10" name="Text 8"/>
          <p:cNvSpPr txBox="1"/>
          <p:nvPr/>
        </p:nvSpPr>
        <p:spPr>
          <a:xfrm>
            <a:off x="8778240" y="2423160"/>
            <a:ext cx="2606040" cy="914400"/>
          </a:xfrm>
          <a:prstGeom prst="rect">
            <a:avLst/>
          </a:prstGeom>
          <a:noFill/>
          <a:ln/>
        </p:spPr>
        <p:txBody>
          <a:bodyPr wrap="square" lIns="0" tIns="0" rIns="0" bIns="0" rtlCol="0" anchor="t"/>
          <a:lstStyle/>
          <a:p>
            <a:pPr marL="0" indent="0" algn="ctr">
              <a:buNone/>
            </a:pPr>
            <a:r>
              <a:rPr lang="en-US" sz="1600" dirty="0">
                <a:solidFill>
                  <a:srgbClr val="6B6B6B"/>
                </a:solidFill>
                <a:latin typeface="Calibri" pitchFamily="34" charset="0"/>
                <a:ea typeface="Calibri" pitchFamily="34" charset="-122"/>
                <a:cs typeface="Calibri" pitchFamily="34" charset="-120"/>
              </a:rPr>
              <a:t>passées éveillé au lit</a:t>
            </a:r>
            <a:endParaRPr lang="en-US" sz="1600" dirty="0"/>
          </a:p>
          <a:p>
            <a:pPr marL="0" indent="0" algn="ctr">
              <a:buNone/>
            </a:pPr>
            <a:r>
              <a:rPr lang="en-US" sz="1600" dirty="0">
                <a:solidFill>
                  <a:srgbClr val="6B6B6B"/>
                </a:solidFill>
                <a:latin typeface="Calibri" pitchFamily="34" charset="0"/>
                <a:ea typeface="Calibri" pitchFamily="34" charset="-122"/>
                <a:cs typeface="Calibri" pitchFamily="34" charset="-120"/>
              </a:rPr>
              <a:t>avant/après le sommeil</a:t>
            </a:r>
            <a:endParaRPr lang="en-US" sz="1600" dirty="0"/>
          </a:p>
        </p:txBody>
      </p:sp>
      <p:sp>
        <p:nvSpPr>
          <p:cNvPr id="11" name="Shape 9"/>
          <p:cNvSpPr/>
          <p:nvPr/>
        </p:nvSpPr>
        <p:spPr>
          <a:xfrm>
            <a:off x="548640" y="3657600"/>
            <a:ext cx="10698480" cy="2011680"/>
          </a:xfrm>
          <a:prstGeom prst="rect">
            <a:avLst/>
          </a:prstGeom>
          <a:solidFill>
            <a:srgbClr val="F0FAF8"/>
          </a:solidFill>
          <a:ln/>
        </p:spPr>
      </p:sp>
      <p:sp>
        <p:nvSpPr>
          <p:cNvPr id="12" name="Text 10"/>
          <p:cNvSpPr txBox="1"/>
          <p:nvPr/>
        </p:nvSpPr>
        <p:spPr>
          <a:xfrm>
            <a:off x="914400" y="3886200"/>
            <a:ext cx="10058400" cy="365760"/>
          </a:xfrm>
          <a:prstGeom prst="rect">
            <a:avLst/>
          </a:prstGeom>
          <a:noFill/>
          <a:ln/>
        </p:spPr>
        <p:txBody>
          <a:bodyPr wrap="square" lIns="0" tIns="0" rIns="0" bIns="0" rtlCol="0" anchor="ctr"/>
          <a:lstStyle/>
          <a:p>
            <a:pPr marL="0" indent="0">
              <a:buNone/>
            </a:pPr>
            <a:r>
              <a:rPr lang="en-US" sz="2400" b="1" dirty="0">
                <a:solidFill>
                  <a:srgbClr val="028090"/>
                </a:solidFill>
                <a:latin typeface="Cambria" pitchFamily="34" charset="0"/>
                <a:ea typeface="Cambria" pitchFamily="34" charset="-122"/>
                <a:cs typeface="Cambria" pitchFamily="34" charset="-120"/>
              </a:rPr>
              <a:t>Ce que ça signifie</a:t>
            </a:r>
            <a:endParaRPr lang="en-US" sz="2400" dirty="0"/>
          </a:p>
        </p:txBody>
      </p:sp>
      <p:sp>
        <p:nvSpPr>
          <p:cNvPr id="13" name="Text 11"/>
          <p:cNvSpPr txBox="1"/>
          <p:nvPr/>
        </p:nvSpPr>
        <p:spPr>
          <a:xfrm>
            <a:off x="914400" y="4297680"/>
            <a:ext cx="10058400" cy="1280160"/>
          </a:xfrm>
          <a:prstGeom prst="rect">
            <a:avLst/>
          </a:prstGeom>
          <a:noFill/>
          <a:ln/>
        </p:spPr>
        <p:txBody>
          <a:bodyPr wrap="square" lIns="0" tIns="0" rIns="0" bIns="0" rtlCol="0" anchor="t"/>
          <a:lstStyle/>
          <a:p>
            <a:pPr marL="0" indent="0">
              <a:buNone/>
            </a:pPr>
            <a:r>
              <a:rPr lang="en-US" sz="2000" dirty="0">
                <a:solidFill>
                  <a:srgbClr val="2B2B2B"/>
                </a:solidFill>
                <a:latin typeface="Calibri" pitchFamily="34" charset="0"/>
                <a:ea typeface="Calibri" pitchFamily="34" charset="-122"/>
                <a:cs typeface="Calibri" pitchFamily="34" charset="-120"/>
              </a:rPr>
              <a:t>L'écart entre le temps sédentaire (72,7 %) et le temps en activité intense (2,5 %) est le constat le plus marquant. Les corrélations entre le nombre de pas, le temps sédentaire et la durée de sommeil restent faibles, mais vont dans le sens attendu : plus d'activité est associée à un peu moins de sédentarité.</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0972800" cy="640080"/>
          </a:xfrm>
          <a:prstGeom prst="rect">
            <a:avLst/>
          </a:prstGeom>
          <a:noFill/>
          <a:ln/>
        </p:spPr>
        <p:txBody>
          <a:bodyPr wrap="square" lIns="0" tIns="0" rIns="0" bIns="0" rtlCol="0" anchor="ctr"/>
          <a:lstStyle/>
          <a:p>
            <a:pPr marL="0" indent="0">
              <a:buNone/>
            </a:pPr>
            <a:r>
              <a:rPr lang="en-US" sz="3200" b="1" dirty="0">
                <a:solidFill>
                  <a:srgbClr val="028090"/>
                </a:solidFill>
                <a:latin typeface="Cambria" pitchFamily="34" charset="0"/>
                <a:ea typeface="Cambria" pitchFamily="34" charset="-122"/>
                <a:cs typeface="Cambria" pitchFamily="34" charset="-120"/>
              </a:rPr>
              <a:t>Répartition du temps par intensité d'activité</a:t>
            </a:r>
            <a:endParaRPr lang="en-US" sz="3200" dirty="0"/>
          </a:p>
        </p:txBody>
      </p:sp>
      <p:graphicFrame>
        <p:nvGraphicFramePr>
          <p:cNvPr id="3" name="Chart 0"/>
          <p:cNvGraphicFramePr/>
          <p:nvPr/>
        </p:nvGraphicFramePr>
        <p:xfrm>
          <a:off x="548640" y="1371600"/>
          <a:ext cx="731520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8138160" y="1371600"/>
            <a:ext cx="3474720" cy="4754880"/>
          </a:xfrm>
          <a:prstGeom prst="rect">
            <a:avLst/>
          </a:prstGeom>
          <a:solidFill>
            <a:srgbClr val="F0FAF8"/>
          </a:solidFill>
          <a:ln/>
        </p:spPr>
      </p:sp>
      <p:sp>
        <p:nvSpPr>
          <p:cNvPr id="5" name="Text 2"/>
          <p:cNvSpPr txBox="1"/>
          <p:nvPr/>
        </p:nvSpPr>
        <p:spPr>
          <a:xfrm>
            <a:off x="8412480" y="1600200"/>
            <a:ext cx="3017520" cy="365760"/>
          </a:xfrm>
          <a:prstGeom prst="rect">
            <a:avLst/>
          </a:prstGeom>
          <a:noFill/>
          <a:ln/>
        </p:spPr>
        <p:txBody>
          <a:bodyPr wrap="square" lIns="0" tIns="0" rIns="0" bIns="0" rtlCol="0" anchor="ctr"/>
          <a:lstStyle/>
          <a:p>
            <a:pPr marL="0" indent="0">
              <a:buNone/>
            </a:pPr>
            <a:r>
              <a:rPr lang="en-US" sz="1800" b="1" dirty="0">
                <a:solidFill>
                  <a:srgbClr val="028090"/>
                </a:solidFill>
                <a:latin typeface="Cambria" pitchFamily="34" charset="0"/>
                <a:ea typeface="Cambria" pitchFamily="34" charset="-122"/>
                <a:cs typeface="Cambria" pitchFamily="34" charset="-120"/>
              </a:rPr>
              <a:t>À retenir</a:t>
            </a:r>
            <a:endParaRPr lang="en-US" sz="1800" dirty="0"/>
          </a:p>
        </p:txBody>
      </p:sp>
      <p:sp>
        <p:nvSpPr>
          <p:cNvPr id="6" name="Text 3"/>
          <p:cNvSpPr txBox="1"/>
          <p:nvPr/>
        </p:nvSpPr>
        <p:spPr>
          <a:xfrm>
            <a:off x="8412480" y="2103120"/>
            <a:ext cx="3017520" cy="3840480"/>
          </a:xfrm>
          <a:prstGeom prst="rect">
            <a:avLst/>
          </a:prstGeom>
          <a:noFill/>
          <a:ln/>
        </p:spPr>
        <p:txBody>
          <a:bodyPr wrap="square" lIns="0" tIns="0" rIns="0" bIns="0" rtlCol="0" anchor="t"/>
          <a:lstStyle/>
          <a:p>
            <a:pPr marL="0" indent="0" algn="just">
              <a:buNone/>
            </a:pPr>
            <a:r>
              <a:rPr lang="en-US" sz="2000" dirty="0">
                <a:solidFill>
                  <a:srgbClr val="2B2B2B"/>
                </a:solidFill>
                <a:latin typeface="Calibri" pitchFamily="34" charset="0"/>
                <a:ea typeface="Calibri" pitchFamily="34" charset="-122"/>
                <a:cs typeface="Calibri" pitchFamily="34" charset="-120"/>
              </a:rPr>
              <a:t>Près des trois quarts de la journée sont passés en position sédentaire. C'est le principal levier d'action pour Bellabeat : encourager de courtes pauses actives réparties dans la journée plutôt qu'une seule séance de sport intense.</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28090"/>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0972800" cy="64008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Recommandations marketing</a:t>
            </a:r>
            <a:endParaRPr lang="en-US" sz="3600" dirty="0"/>
          </a:p>
        </p:txBody>
      </p:sp>
      <p:sp>
        <p:nvSpPr>
          <p:cNvPr id="3" name="Shape 1"/>
          <p:cNvSpPr/>
          <p:nvPr/>
        </p:nvSpPr>
        <p:spPr>
          <a:xfrm>
            <a:off x="548640" y="1463040"/>
            <a:ext cx="502920" cy="502920"/>
          </a:xfrm>
          <a:prstGeom prst="ellipse">
            <a:avLst/>
          </a:prstGeom>
          <a:solidFill>
            <a:srgbClr val="02C39A"/>
          </a:solidFill>
          <a:ln/>
        </p:spPr>
      </p:sp>
      <p:sp>
        <p:nvSpPr>
          <p:cNvPr id="4" name="Text 2"/>
          <p:cNvSpPr txBox="1"/>
          <p:nvPr/>
        </p:nvSpPr>
        <p:spPr>
          <a:xfrm>
            <a:off x="548640" y="1463040"/>
            <a:ext cx="502920" cy="502920"/>
          </a:xfrm>
          <a:prstGeom prst="rect">
            <a:avLst/>
          </a:prstGeom>
          <a:noFill/>
          <a:ln/>
        </p:spPr>
        <p:txBody>
          <a:bodyPr wrap="square" lIns="0" tIns="0" rIns="0" bIns="0" rtlCol="0" anchor="ctr"/>
          <a:lstStyle/>
          <a:p>
            <a:pPr marL="0" indent="0" algn="ctr">
              <a:buNone/>
            </a:pPr>
            <a:r>
              <a:rPr lang="en-US" sz="2000" b="1" dirty="0">
                <a:solidFill>
                  <a:srgbClr val="028090"/>
                </a:solidFill>
                <a:latin typeface="Cambria" pitchFamily="34" charset="0"/>
                <a:ea typeface="Cambria" pitchFamily="34" charset="-122"/>
                <a:cs typeface="Cambria" pitchFamily="34" charset="-120"/>
              </a:rPr>
              <a:t>1</a:t>
            </a:r>
            <a:endParaRPr lang="en-US" sz="2000" dirty="0"/>
          </a:p>
        </p:txBody>
      </p:sp>
      <p:sp>
        <p:nvSpPr>
          <p:cNvPr id="5" name="Text 3"/>
          <p:cNvSpPr txBox="1"/>
          <p:nvPr/>
        </p:nvSpPr>
        <p:spPr>
          <a:xfrm>
            <a:off x="1280160" y="1417320"/>
            <a:ext cx="9875520"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Encourager des pauses actives régulières</a:t>
            </a:r>
            <a:endParaRPr lang="en-US" sz="1900" dirty="0"/>
          </a:p>
        </p:txBody>
      </p:sp>
      <p:sp>
        <p:nvSpPr>
          <p:cNvPr id="6" name="Text 4"/>
          <p:cNvSpPr txBox="1"/>
          <p:nvPr/>
        </p:nvSpPr>
        <p:spPr>
          <a:xfrm>
            <a:off x="1280160" y="1828800"/>
            <a:ext cx="9875520" cy="822960"/>
          </a:xfrm>
          <a:prstGeom prst="rect">
            <a:avLst/>
          </a:prstGeom>
          <a:noFill/>
          <a:ln/>
        </p:spPr>
        <p:txBody>
          <a:bodyPr wrap="square" lIns="0" tIns="0" rIns="0" bIns="0" rtlCol="0" anchor="t"/>
          <a:lstStyle/>
          <a:p>
            <a:pPr marL="0" indent="0">
              <a:buNone/>
            </a:pPr>
            <a:r>
              <a:rPr lang="en-US" dirty="0">
                <a:solidFill>
                  <a:srgbClr val="CADCFC"/>
                </a:solidFill>
                <a:latin typeface="Calibri" pitchFamily="34" charset="0"/>
                <a:ea typeface="Calibri" pitchFamily="34" charset="-122"/>
                <a:cs typeface="Calibri" pitchFamily="34" charset="-120"/>
              </a:rPr>
              <a:t>Puisque le temps sédentaire domine largement la journée, les rappels et notifications de Bellabeat devraient inciter à de courtes pauses actives plutôt qu'à une seule performance quotidienne.</a:t>
            </a:r>
            <a:endParaRPr lang="en-US" dirty="0"/>
          </a:p>
        </p:txBody>
      </p:sp>
      <p:sp>
        <p:nvSpPr>
          <p:cNvPr id="7" name="Shape 5"/>
          <p:cNvSpPr/>
          <p:nvPr/>
        </p:nvSpPr>
        <p:spPr>
          <a:xfrm>
            <a:off x="548640" y="2971800"/>
            <a:ext cx="502920" cy="502920"/>
          </a:xfrm>
          <a:prstGeom prst="ellipse">
            <a:avLst/>
          </a:prstGeom>
          <a:solidFill>
            <a:srgbClr val="02C39A"/>
          </a:solidFill>
          <a:ln/>
        </p:spPr>
      </p:sp>
      <p:sp>
        <p:nvSpPr>
          <p:cNvPr id="8" name="Text 6"/>
          <p:cNvSpPr txBox="1"/>
          <p:nvPr/>
        </p:nvSpPr>
        <p:spPr>
          <a:xfrm>
            <a:off x="548640" y="2971800"/>
            <a:ext cx="502920" cy="502920"/>
          </a:xfrm>
          <a:prstGeom prst="rect">
            <a:avLst/>
          </a:prstGeom>
          <a:noFill/>
          <a:ln/>
        </p:spPr>
        <p:txBody>
          <a:bodyPr wrap="square" lIns="0" tIns="0" rIns="0" bIns="0" rtlCol="0" anchor="ctr"/>
          <a:lstStyle/>
          <a:p>
            <a:pPr marL="0" indent="0" algn="ctr">
              <a:buNone/>
            </a:pPr>
            <a:r>
              <a:rPr lang="en-US" sz="2000" b="1" dirty="0">
                <a:solidFill>
                  <a:srgbClr val="028090"/>
                </a:solidFill>
                <a:latin typeface="Cambria" pitchFamily="34" charset="0"/>
                <a:ea typeface="Cambria" pitchFamily="34" charset="-122"/>
                <a:cs typeface="Cambria" pitchFamily="34" charset="-120"/>
              </a:rPr>
              <a:t>2</a:t>
            </a:r>
            <a:endParaRPr lang="en-US" sz="2000" dirty="0"/>
          </a:p>
        </p:txBody>
      </p:sp>
      <p:sp>
        <p:nvSpPr>
          <p:cNvPr id="9" name="Text 7"/>
          <p:cNvSpPr txBox="1"/>
          <p:nvPr/>
        </p:nvSpPr>
        <p:spPr>
          <a:xfrm>
            <a:off x="1280160" y="2926080"/>
            <a:ext cx="9875520"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Mettre en avant le suivi du sommeil comme argument clé</a:t>
            </a:r>
            <a:endParaRPr lang="en-US" sz="1900" dirty="0"/>
          </a:p>
        </p:txBody>
      </p:sp>
      <p:sp>
        <p:nvSpPr>
          <p:cNvPr id="10" name="Text 8"/>
          <p:cNvSpPr txBox="1"/>
          <p:nvPr/>
        </p:nvSpPr>
        <p:spPr>
          <a:xfrm>
            <a:off x="1280160" y="3337560"/>
            <a:ext cx="9875520" cy="822960"/>
          </a:xfrm>
          <a:prstGeom prst="rect">
            <a:avLst/>
          </a:prstGeom>
          <a:noFill/>
          <a:ln/>
        </p:spPr>
        <p:txBody>
          <a:bodyPr wrap="square" lIns="0" tIns="0" rIns="0" bIns="0" rtlCol="0" anchor="t"/>
          <a:lstStyle/>
          <a:p>
            <a:pPr marL="0" indent="0">
              <a:buNone/>
            </a:pPr>
            <a:r>
              <a:rPr lang="en-US" dirty="0">
                <a:solidFill>
                  <a:srgbClr val="CADCFC"/>
                </a:solidFill>
                <a:latin typeface="Calibri" pitchFamily="34" charset="0"/>
                <a:ea typeface="Calibri" pitchFamily="34" charset="-122"/>
                <a:cs typeface="Calibri" pitchFamily="34" charset="-120"/>
              </a:rPr>
              <a:t>L'écart observé entre le temps au lit et le temps de sommeil réel justifie de positionner le suivi du sommeil comme un vrai outil d'amélioration de la qualité de vie, pas seulement un compteur.</a:t>
            </a:r>
            <a:endParaRPr lang="en-US" dirty="0"/>
          </a:p>
        </p:txBody>
      </p:sp>
      <p:sp>
        <p:nvSpPr>
          <p:cNvPr id="11" name="Shape 9"/>
          <p:cNvSpPr/>
          <p:nvPr/>
        </p:nvSpPr>
        <p:spPr>
          <a:xfrm>
            <a:off x="548640" y="4480560"/>
            <a:ext cx="502920" cy="502920"/>
          </a:xfrm>
          <a:prstGeom prst="ellipse">
            <a:avLst/>
          </a:prstGeom>
          <a:solidFill>
            <a:srgbClr val="02C39A"/>
          </a:solidFill>
          <a:ln/>
        </p:spPr>
      </p:sp>
      <p:sp>
        <p:nvSpPr>
          <p:cNvPr id="12" name="Text 10"/>
          <p:cNvSpPr txBox="1"/>
          <p:nvPr/>
        </p:nvSpPr>
        <p:spPr>
          <a:xfrm>
            <a:off x="548640" y="4480560"/>
            <a:ext cx="502920" cy="502920"/>
          </a:xfrm>
          <a:prstGeom prst="rect">
            <a:avLst/>
          </a:prstGeom>
          <a:noFill/>
          <a:ln/>
        </p:spPr>
        <p:txBody>
          <a:bodyPr wrap="square" lIns="0" tIns="0" rIns="0" bIns="0" rtlCol="0" anchor="ctr"/>
          <a:lstStyle/>
          <a:p>
            <a:pPr marL="0" indent="0" algn="ctr">
              <a:buNone/>
            </a:pPr>
            <a:r>
              <a:rPr lang="en-US" sz="2000" b="1" dirty="0">
                <a:solidFill>
                  <a:srgbClr val="028090"/>
                </a:solidFill>
                <a:latin typeface="Cambria" pitchFamily="34" charset="0"/>
                <a:ea typeface="Cambria" pitchFamily="34" charset="-122"/>
                <a:cs typeface="Cambria" pitchFamily="34" charset="-120"/>
              </a:rPr>
              <a:t>3</a:t>
            </a:r>
            <a:endParaRPr lang="en-US" sz="2000" dirty="0"/>
          </a:p>
        </p:txBody>
      </p:sp>
      <p:sp>
        <p:nvSpPr>
          <p:cNvPr id="13" name="Text 11"/>
          <p:cNvSpPr txBox="1"/>
          <p:nvPr/>
        </p:nvSpPr>
        <p:spPr>
          <a:xfrm>
            <a:off x="1280160" y="4434840"/>
            <a:ext cx="9875520"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Personnaliser les recommandations selon le profil d'activité</a:t>
            </a:r>
            <a:endParaRPr lang="en-US" sz="1900" dirty="0"/>
          </a:p>
        </p:txBody>
      </p:sp>
      <p:sp>
        <p:nvSpPr>
          <p:cNvPr id="14" name="Text 12"/>
          <p:cNvSpPr txBox="1"/>
          <p:nvPr/>
        </p:nvSpPr>
        <p:spPr>
          <a:xfrm>
            <a:off x="1280160" y="4846320"/>
            <a:ext cx="9875520" cy="822960"/>
          </a:xfrm>
          <a:prstGeom prst="rect">
            <a:avLst/>
          </a:prstGeom>
          <a:noFill/>
          <a:ln/>
        </p:spPr>
        <p:txBody>
          <a:bodyPr wrap="square" lIns="0" tIns="0" rIns="0" bIns="0" rtlCol="0" anchor="t"/>
          <a:lstStyle/>
          <a:p>
            <a:pPr marL="0" indent="0">
              <a:buNone/>
            </a:pPr>
            <a:r>
              <a:rPr lang="en-US" dirty="0">
                <a:solidFill>
                  <a:srgbClr val="CADCFC"/>
                </a:solidFill>
                <a:latin typeface="Calibri" pitchFamily="34" charset="0"/>
                <a:ea typeface="Calibri" pitchFamily="34" charset="-122"/>
                <a:cs typeface="Calibri" pitchFamily="34" charset="-120"/>
              </a:rPr>
              <a:t>Les utilisateurs très sédentaires et les utilisateurs déjà actifs n'ont pas les mêmes besoins : des objectifs progressifs et personnalisés dans l'application renforceraient l'engagement.</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731520" y="2651760"/>
            <a:ext cx="10058400" cy="914400"/>
          </a:xfrm>
          <a:prstGeom prst="rect">
            <a:avLst/>
          </a:prstGeom>
          <a:noFill/>
          <a:ln/>
        </p:spPr>
        <p:txBody>
          <a:bodyPr wrap="square" lIns="0" tIns="0" rIns="0" bIns="0" rtlCol="0" anchor="ctr"/>
          <a:lstStyle/>
          <a:p>
            <a:pPr marL="0" indent="0">
              <a:buNone/>
            </a:pPr>
            <a:r>
              <a:rPr lang="en-US" sz="4400" b="1" dirty="0">
                <a:solidFill>
                  <a:srgbClr val="028090"/>
                </a:solidFill>
                <a:latin typeface="Cambria" pitchFamily="34" charset="0"/>
                <a:ea typeface="Cambria" pitchFamily="34" charset="-122"/>
                <a:cs typeface="Cambria" pitchFamily="34" charset="-120"/>
              </a:rPr>
              <a:t>Merci</a:t>
            </a:r>
            <a:endParaRPr lang="en-US" sz="4400" dirty="0"/>
          </a:p>
        </p:txBody>
      </p:sp>
      <p:sp>
        <p:nvSpPr>
          <p:cNvPr id="3" name="Shape 1"/>
          <p:cNvSpPr/>
          <p:nvPr/>
        </p:nvSpPr>
        <p:spPr>
          <a:xfrm>
            <a:off x="731520" y="3566160"/>
            <a:ext cx="1280160" cy="54864"/>
          </a:xfrm>
          <a:prstGeom prst="rect">
            <a:avLst/>
          </a:prstGeom>
          <a:solidFill>
            <a:srgbClr val="02C39A"/>
          </a:solidFill>
          <a:ln/>
        </p:spPr>
      </p:sp>
      <p:sp>
        <p:nvSpPr>
          <p:cNvPr id="4" name="Text 2"/>
          <p:cNvSpPr txBox="1"/>
          <p:nvPr/>
        </p:nvSpPr>
        <p:spPr>
          <a:xfrm>
            <a:off x="731520" y="3840480"/>
            <a:ext cx="8229600" cy="822960"/>
          </a:xfrm>
          <a:prstGeom prst="rect">
            <a:avLst/>
          </a:prstGeom>
          <a:noFill/>
          <a:ln/>
        </p:spPr>
        <p:txBody>
          <a:bodyPr wrap="square" lIns="0" tIns="0" rIns="0" bIns="0" rtlCol="0" anchor="t"/>
          <a:lstStyle/>
          <a:p>
            <a:pPr marL="0" indent="0">
              <a:buNone/>
            </a:pPr>
            <a:r>
              <a:rPr lang="en-US" dirty="0">
                <a:solidFill>
                  <a:srgbClr val="6B6B6B"/>
                </a:solidFill>
                <a:latin typeface="Calibri" pitchFamily="34" charset="0"/>
                <a:ea typeface="Calibri" pitchFamily="34" charset="-122"/>
                <a:cs typeface="Calibri" pitchFamily="34" charset="-120"/>
              </a:rPr>
              <a:t>Étude de cas réalisée dans le cadre du parcours de formation en data analytics</a:t>
            </a:r>
            <a:endParaRPr lang="en-US" dirty="0"/>
          </a:p>
          <a:p>
            <a:pPr marL="0" indent="0">
              <a:buNone/>
            </a:pPr>
            <a:r>
              <a:rPr lang="en-US" dirty="0">
                <a:solidFill>
                  <a:srgbClr val="6B6B6B"/>
                </a:solidFill>
                <a:latin typeface="Calibri" pitchFamily="34" charset="0"/>
                <a:ea typeface="Calibri" pitchFamily="34" charset="-122"/>
                <a:cs typeface="Calibri" pitchFamily="34" charset="-120"/>
              </a:rPr>
              <a:t>Outils : Python (pandas), Jupyter</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551</Words>
  <Application>Microsoft Office PowerPoint</Application>
  <PresentationFormat>Grand écran</PresentationFormat>
  <Paragraphs>72</Paragraphs>
  <Slides>8</Slides>
  <Notes>8</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8</vt:i4>
      </vt:variant>
    </vt:vector>
  </HeadingPairs>
  <TitlesOfParts>
    <vt:vector size="12" baseType="lpstr">
      <vt:lpstr>Arial</vt:lpstr>
      <vt:lpstr>Calibri</vt:lpstr>
      <vt:lpstr>Cambria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TRAYE BI FEZAN MAIVA</cp:lastModifiedBy>
  <cp:revision>2</cp:revision>
  <dcterms:created xsi:type="dcterms:W3CDTF">2026-09-09T20:03:11Z</dcterms:created>
  <dcterms:modified xsi:type="dcterms:W3CDTF">2026-09-09T20:08:56Z</dcterms:modified>
</cp:coreProperties>
</file>